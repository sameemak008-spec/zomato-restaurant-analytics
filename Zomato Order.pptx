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4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5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6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7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10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11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Zomato Order &amp; Restaurant Analysis Using Power BI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GB" altLang="en-US"/>
              <a:t>.</a:t>
            </a:r>
            <a:endParaRPr lang="en-GB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50895"/>
            <a:ext cx="10969200" cy="705600"/>
          </a:xfrm>
        </p:spPr>
        <p:txBody>
          <a:bodyPr>
            <a:normAutofit fontScale="90000"/>
          </a:bodyPr>
          <a:p>
            <a:pPr algn="ctr"/>
            <a:r>
              <a:rPr lang="en-US" altLang="en-US"/>
              <a:t>Task 1: Number of Restaurants per City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56235" y="4264025"/>
            <a:ext cx="11560175" cy="2499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162935" y="794385"/>
            <a:ext cx="5402580" cy="314325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503680" y="4056380"/>
            <a:ext cx="10412730" cy="2801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Mumbai leads sales, making it the strongest revenue-generating city.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Kolkata and Bangalore show strong performance and contribute significantly to total sales.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Chennai records moderate sales, indicating growth potential.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Delhi has the lowest sales, suggesting a need for targeted marketing efforts.</a:t>
            </a:r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Sales are concentrated in the top 3 cities, highlighting key markets for business expansion.</a:t>
            </a:r>
            <a:endParaRPr lang="en-US" altLang="en-US" sz="200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Task 2: Percentage of Orders from Different Cities</a:t>
            </a:r>
            <a:br>
              <a:rPr lang="en-US" altLang="en-US"/>
            </a:b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03195" y="1313815"/>
            <a:ext cx="6489065" cy="306260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377950" y="4377055"/>
            <a:ext cx="9874885" cy="2317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Kolkata: 261 orders (26.1%)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 Mumbai: 246 orders (24.6%)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 Bangalore: 229 orders (22.9%)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 Chennai: 144 orders (14.4%)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 Delhi: 120 orders (12.0%</a:t>
            </a:r>
            <a:r>
              <a:rPr lang="en-US" altLang="en-US"/>
              <a:t>)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Task 3: Order Amount Trends Over Time</a:t>
            </a:r>
            <a:br>
              <a:rPr lang="en-US" altLang="en-US"/>
            </a:br>
            <a:r>
              <a:rPr lang="en-US" altLang="en-US"/>
              <a:t> Objective:</a:t>
            </a:r>
            <a:br>
              <a:rPr lang="en-US" altLang="en-US"/>
            </a:b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69950" y="1313815"/>
            <a:ext cx="10058400" cy="29254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60350" y="4343400"/>
            <a:ext cx="11462385" cy="2230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High Sales Volatility: Daily sales fluctuate significantly, indicating inconsistent demand.</a:t>
            </a:r>
            <a:endParaRPr lang="en-US" altLang="en-US"/>
          </a:p>
          <a:p>
            <a:r>
              <a:rPr lang="en-US" altLang="en-US"/>
              <a:t>Event-Driven Performance: Sales spikes suggest promotions, campaigns, or external events strongly influence revenue.</a:t>
            </a:r>
            <a:endParaRPr lang="en-US" altLang="en-US"/>
          </a:p>
          <a:p>
            <a:r>
              <a:rPr lang="en-US" altLang="en-US"/>
              <a:t>July Peak Opportunity: A major sales surge in July highlights a successful growth trigger worth analyzing and replicating.</a:t>
            </a:r>
            <a:endParaRPr lang="en-US" altLang="en-US"/>
          </a:p>
          <a:p>
            <a:r>
              <a:rPr lang="en-US" altLang="en-US"/>
              <a:t>Stable Core Demand: Baseline sales remain relatively steady throughout the year, showing consistent customer demand.</a:t>
            </a:r>
            <a:endParaRPr lang="en-US" altLang="en-US"/>
          </a:p>
          <a:p>
            <a:r>
              <a:rPr lang="en-US" altLang="en-US"/>
              <a:t>Limited Seasonal Impact: No strong seasonal trend is visible, suggesting growth depends more on business initiatives than calendar periods.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Task 4: Correlation of Factors Affecting Average Rating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328295" y="4126230"/>
            <a:ext cx="11711940" cy="2637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36850" y="1478915"/>
            <a:ext cx="5951855" cy="49828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/>
              <a:t>Model insights</a:t>
            </a:r>
            <a:endParaRPr lang="en-GB" altLang="en-US"/>
          </a:p>
        </p:txBody>
      </p:sp>
      <p:sp>
        <p:nvSpPr>
          <p:cNvPr id="5" name="Content Placeholder 4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Broken Sales Chart: Sales visualization appears blank, indicating a possible data model or filter issue.</a:t>
            </a:r>
            <a:endParaRPr lang="en-US" altLang="en-US"/>
          </a:p>
          <a:p>
            <a:r>
              <a:rPr lang="en-US" altLang="en-US"/>
              <a:t>Incorrect KPI Logic: Customer ratings are summed instead of averaged, leading to misleading insights.</a:t>
            </a:r>
            <a:endParaRPr lang="en-US" altLang="en-US"/>
          </a:p>
          <a:p>
            <a:r>
              <a:rPr lang="en-US" altLang="en-US"/>
              <a:t>Inflated Satisfaction Scores: High-volume orders artificially boost rating totals.</a:t>
            </a:r>
            <a:endParaRPr lang="en-US" altLang="en-US"/>
          </a:p>
          <a:p>
            <a:r>
              <a:rPr lang="en-US" altLang="en-US"/>
              <a:t>Outlier Distortion: Extreme data points reflect transaction volume rather than actual customer sentiment.</a:t>
            </a:r>
            <a:endParaRPr lang="en-US" altLang="en-US"/>
          </a:p>
          <a:p>
            <a:r>
              <a:rPr lang="en-US" altLang="en-US"/>
              <a:t>Data Quality Concern: Dashboard metrics should be validated before making business decisions.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35655"/>
            <a:ext cx="10969200" cy="705600"/>
          </a:xfrm>
        </p:spPr>
        <p:txBody>
          <a:bodyPr>
            <a:normAutofit fontScale="90000"/>
          </a:bodyPr>
          <a:p>
            <a:pPr algn="ctr"/>
            <a:r>
              <a:rPr lang="en-US" altLang="en-US"/>
              <a:t> Top 5 Restaurants by Total Sales</a:t>
            </a:r>
            <a:br>
              <a:rPr lang="en-US" altLang="en-US"/>
            </a:b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68855" y="641985"/>
            <a:ext cx="7757795" cy="31178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35280" y="3856990"/>
            <a:ext cx="11601450" cy="2811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Market Leader: Restaurant_127 is the top-performing branch, generating 40k+ sales volume.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Stable Performance: Most branches maintain a consistent sales range of 20k–40k.</a:t>
            </a:r>
            <a:endParaRPr lang="en-US" alt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/>
              <a:t>Improvement Opportunity: Restaurant_150 and a few other branches lag behind with below 20k sales.</a:t>
            </a:r>
            <a:endParaRPr lang="en-US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Task 6: Revenue by Area Using a Tree Map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56155" y="1220470"/>
            <a:ext cx="6539230" cy="278638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3855" y="4006850"/>
            <a:ext cx="11571605" cy="2606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/>
              <a:t>Top Revenue Region: Area_B is the largest contributor to overall revenue.</a:t>
            </a:r>
            <a:endParaRPr lang="en-US" alt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/>
              <a:t>Strong Supporting Markets: Area_C and Area_E generate significant revenue and support business growth.</a:t>
            </a:r>
            <a:endParaRPr lang="en-US" altLang="en-US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/>
              <a:t>Low-Performing Areas: Area_A and other smaller regions contribute the least revenue, indicating growth opportunities.</a:t>
            </a:r>
            <a:endParaRPr lang="en-US" altLang="en-US" sz="2800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Task 7: Order Density by City Using a  Map</a:t>
            </a:r>
            <a:br>
              <a:rPr lang="en-US" altLang="en-US"/>
            </a:br>
            <a:endParaRPr lang="en-US" altLang="en-US"/>
          </a:p>
        </p:txBody>
      </p:sp>
      <p:pic>
        <p:nvPicPr>
          <p:cNvPr id="8" name="Content Placeholder 7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14700" y="1026160"/>
            <a:ext cx="5824220" cy="52362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/>
              <a:t>Task 8: KPI Cards – Total Revenue &amp; Average Order Value</a:t>
            </a:r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7725" y="1567815"/>
            <a:ext cx="3821430" cy="15995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155" y="1430020"/>
            <a:ext cx="4844415" cy="22148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76555" y="3084195"/>
            <a:ext cx="11201400" cy="337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High Order Value: Average Order Value (AOV) of 1.04K indicates strong transaction value.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Premium Positioning: Sales suggest premium products, bulk purchases, or B2B transactions.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Strong Revenue Generation: The business has achieved 15.57M total revenue.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Healthy Order Volume: Revenue levels indicate approximately 15,000 orders processed.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Established Customer Base: Performance reflects a stable and growing customer network.</a:t>
            </a:r>
            <a:endParaRPr lang="en-US" altLang="en-US" sz="2400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75025"/>
            <a:ext cx="10969200" cy="705600"/>
          </a:xfrm>
        </p:spPr>
        <p:txBody>
          <a:bodyPr>
            <a:normAutofit fontScale="90000"/>
          </a:bodyPr>
          <a:p>
            <a:pPr algn="ctr"/>
            <a:r>
              <a:rPr lang="zh-CN" altLang="en-US"/>
              <a:t>🔹 </a:t>
            </a:r>
            <a:r>
              <a:rPr lang="en-US" altLang="en-US"/>
              <a:t>Task 9: Restaurant-Wise Sales Summary in a Table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083685" y="1121410"/>
            <a:ext cx="4024630" cy="31724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20040" y="4293235"/>
            <a:ext cx="11558270" cy="2363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Average Order Value is ₹1,026, showing strong customer spending.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A few restaurants drive most revenue, indicating key revenue contributors.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Sales performance varies significantly across restaurants.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High AOV doesn’t always mean high sales, as order volume matters.</a:t>
            </a: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Low-performing restaurants offer growth opportunities through targeted promotio</a:t>
            </a:r>
            <a:r>
              <a:rPr lang="en-GB" altLang="en-US" sz="2400"/>
              <a:t>ns.</a:t>
            </a:r>
            <a:endParaRPr lang="en-GB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Task 10: Power BI Dashboard – Combining All Visuals</a:t>
            </a:r>
            <a:br>
              <a:rPr lang="en-US" altLang="en-US"/>
            </a:br>
            <a:endParaRPr lang="en-US" alt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06145" y="1243965"/>
            <a:ext cx="10013950" cy="53905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2334260"/>
            <a:ext cx="10968990" cy="1986915"/>
          </a:xfrm>
        </p:spPr>
        <p:txBody>
          <a:bodyPr/>
          <a:p>
            <a:pPr algn="ctr"/>
            <a:r>
              <a:rPr lang="en-GB" altLang="en-US" sz="6000"/>
              <a:t>THANK YOU!!</a:t>
            </a:r>
            <a:endParaRPr lang="en-GB" altLang="en-US" sz="6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3461</Words>
  <Application>WPS Presentation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等线 Light</vt:lpstr>
      <vt:lpstr>Crimson Text SemiBold</vt:lpstr>
      <vt:lpstr>Charis SIL</vt:lpstr>
      <vt:lpstr>WPS</vt:lpstr>
      <vt:lpstr>Zomato Order &amp; Restaurant Analysis Using Power BI </vt:lpstr>
      <vt:lpstr>Task 1: Number of Restaurants per City </vt:lpstr>
      <vt:lpstr>Task 2: Percentage of Orders from Different Cities </vt:lpstr>
      <vt:lpstr>Task 3: Order Amount Trends Over Time  Objective: </vt:lpstr>
      <vt:lpstr>Task 4: Correlation of Factors Affecting Average Rating</vt:lpstr>
      <vt:lpstr>Model insights</vt:lpstr>
      <vt:lpstr> Top 5 Restaurants by Total Sales </vt:lpstr>
      <vt:lpstr>Task 6: Revenue by Area Using a Tree Map</vt:lpstr>
      <vt:lpstr>Task 7: Order Density by City Using a Heat Map </vt:lpstr>
      <vt:lpstr>Task 8: KPI Cards – Total Revenue &amp; Average Order Value</vt:lpstr>
      <vt:lpstr>🔹 Task 9: Restaurant-Wise Sales Summary in a Table</vt:lpstr>
      <vt:lpstr>Task 10: Power BI Dashboard – Combining All Visuals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Order &amp; Restaurant Analysis Using Power BI </dc:title>
  <dc:creator>MD KAIF</dc:creator>
  <cp:lastModifiedBy>Sameem Akthar</cp:lastModifiedBy>
  <cp:revision>3</cp:revision>
  <dcterms:created xsi:type="dcterms:W3CDTF">2026-05-28T10:44:00Z</dcterms:created>
  <dcterms:modified xsi:type="dcterms:W3CDTF">2026-06-26T06:26:26Z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71E0F6EB4667406EA63DF81174240201_11</vt:lpwstr>
  </property>
</Properties>
</file>